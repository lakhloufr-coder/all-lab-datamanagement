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66" r:id="rId5"/>
    <p:sldId id="271" r:id="rId6"/>
    <p:sldId id="272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30" dt="2026-09-20T22:17:25.531"/>
    <p1510:client id="{11577CA6-DDDC-DC50-2449-03B5A4F42F8B}" v="710" dt="2026-09-20T22:09:36.287"/>
    <p1510:client id="{7955533D-C2C7-88C9-E378-DA61441F57B9}" v="1325" dt="2026-09-20T09:56:17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3200" b="1">
                <a:solidFill>
                  <a:srgbClr val="1F6B75"/>
                </a:solidFill>
                <a:latin typeface="Calibri"/>
              </a:defRPr>
            </a:pPr>
            <a:r>
              <a:rPr lang="en-US" dirty="0">
                <a:ea typeface="+mn-lt"/>
                <a:cs typeface="+mn-lt"/>
              </a:rPr>
              <a:t>Lab 1: Conceptual Design 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AFCA2-CB50-3947-ADEB-07FB0CAE725B}"/>
              </a:ext>
            </a:extLst>
          </p:cNvPr>
          <p:cNvSpPr txBox="1"/>
          <p:nvPr/>
        </p:nvSpPr>
        <p:spPr>
          <a:xfrm>
            <a:off x="3260436" y="2890981"/>
            <a:ext cx="530167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Calibri"/>
                <a:cs typeface="Calibri"/>
              </a:rPr>
              <a:t>Member team : REDA </a:t>
            </a:r>
            <a:r>
              <a:rPr lang="en-US" dirty="0" err="1">
                <a:ea typeface="Calibri"/>
                <a:cs typeface="Calibri"/>
              </a:rPr>
              <a:t>Lakhlouf</a:t>
            </a: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D6AF9-6308-73FF-987E-C5D885D05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8" y="489195"/>
            <a:ext cx="10525125" cy="571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04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5E6AC9-2FD8-7699-CB34-FEC96058F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08" y="-488"/>
            <a:ext cx="10689492" cy="685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96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003BAC-AA59-7690-1469-86D916174462}"/>
              </a:ext>
            </a:extLst>
          </p:cNvPr>
          <p:cNvSpPr txBox="1"/>
          <p:nvPr/>
        </p:nvSpPr>
        <p:spPr>
          <a:xfrm>
            <a:off x="751840" y="228600"/>
            <a:ext cx="106984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Attributes and relations 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Inforamtions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EB6B32-C65B-C6BF-D0A5-77FE07CDC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13291"/>
              </p:ext>
            </p:extLst>
          </p:nvPr>
        </p:nvGraphicFramePr>
        <p:xfrm>
          <a:off x="351692" y="918307"/>
          <a:ext cx="11351712" cy="546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7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3539">
                <a:tc>
                  <a:txBody>
                    <a:bodyPr/>
                    <a:lstStyle/>
                    <a:p>
                      <a:pPr lvl="0">
                        <a:buNone/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5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Relation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Entités</a:t>
                      </a:r>
                      <a:r>
                        <a:rPr lang="en-US" sz="15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 </a:t>
                      </a:r>
                      <a:r>
                        <a:rPr lang="en-US" sz="1500" b="1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Liées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5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Type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500" b="1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Attributs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539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supervised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Student, Academic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Many-to-many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Aucun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539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reports_to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Employee, Employee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One-to-many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 err="1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Aucun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539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attached_to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Person, Laboratory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Many-to-many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Aucun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539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supervises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Faculty, Laboratory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One-to-many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 err="1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Aucun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2779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participates_in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Person, Research Project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Many-to-many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role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3539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makes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Person, Reservation</a:t>
                      </a:r>
                      <a:endParaRPr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One-to-many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 err="1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Aucun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3539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manages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Academic, Budget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One-to-many 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Aucun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B57A66-554A-B049-B730-CEB2423A9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431351"/>
              </p:ext>
            </p:extLst>
          </p:nvPr>
        </p:nvGraphicFramePr>
        <p:xfrm>
          <a:off x="361852" y="816707"/>
          <a:ext cx="11351712" cy="5833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7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6483">
                <a:tc>
                  <a:txBody>
                    <a:bodyPr/>
                    <a:lstStyle/>
                    <a:p>
                      <a:pPr lvl="0">
                        <a:buNone/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5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Relation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Entités Liées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5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Type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5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Attributs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834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approved_by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Reservation, Research Project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One-to-many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Aucun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34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funds_project</a:t>
                      </a:r>
                      <a:endParaRPr dirty="0">
                        <a:highlight>
                          <a:srgbClr val="F8FAFC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Budget, Research Project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Many-to-many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Aucun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83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funds_lab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Budget, Laboratory</a:t>
                      </a:r>
                      <a:endParaRPr dirty="0">
                        <a:solidFill>
                          <a:srgbClr val="33415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Many-to-many</a:t>
                      </a:r>
                      <a:endParaRPr dirty="0">
                        <a:solidFill>
                          <a:srgbClr val="33415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Aucun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83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instance_of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Equipment Unit, Model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Many-to-one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Aucun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670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located_in</a:t>
                      </a:r>
                      <a:endParaRPr dirty="0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Equipment Unit, Laboratory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Many-to-one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Aucun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endParaRPr sz="1400" b="1" i="0" u="none" strike="noStrike" noProof="0" dirty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4320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uses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Person, Equipment Unit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Many-to-many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Aucun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4320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consumes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Reservation, Consumable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Many-to-many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F97316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quantity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546963"/>
                  </a:ext>
                </a:extLst>
              </a:tr>
              <a:tr h="606483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reserves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Reservation, Equipment Unit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Many-to-many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Aucun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C9F6B6E-0A58-7D21-528A-DA8E50D27376}"/>
              </a:ext>
            </a:extLst>
          </p:cNvPr>
          <p:cNvSpPr txBox="1"/>
          <p:nvPr/>
        </p:nvSpPr>
        <p:spPr>
          <a:xfrm>
            <a:off x="683455" y="287215"/>
            <a:ext cx="106984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Attributes and relations 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Inforamtions</a:t>
            </a:r>
          </a:p>
        </p:txBody>
      </p:sp>
    </p:spTree>
    <p:extLst>
      <p:ext uri="{BB962C8B-B14F-4D97-AF65-F5344CB8AC3E}">
        <p14:creationId xmlns:p14="http://schemas.microsoft.com/office/powerpoint/2010/main" val="27196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5E5357-21DE-6C56-5510-3C8E223DE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937881"/>
              </p:ext>
            </p:extLst>
          </p:nvPr>
        </p:nvGraphicFramePr>
        <p:xfrm>
          <a:off x="351692" y="918307"/>
          <a:ext cx="11351712" cy="5406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7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140">
                <a:tc>
                  <a:txBody>
                    <a:bodyPr/>
                    <a:lstStyle/>
                    <a:p>
                      <a:pPr lvl="0">
                        <a:buNone/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5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Relation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Entités</a:t>
                      </a:r>
                      <a:r>
                        <a:rPr lang="en-US" sz="15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 </a:t>
                      </a:r>
                      <a:r>
                        <a:rPr lang="en-US" sz="1500" b="1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Liées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500" b="1" i="0" u="none" strike="noStrike" noProof="0" dirty="0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Type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sz="1500" b="1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1E3A8A"/>
                          </a:highlight>
                        </a:rPr>
                        <a:t>Attributs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971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undergoes_maint</a:t>
                      </a:r>
                      <a:endParaRPr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Equipment Unit, Maintenance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One-to-many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Aucun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971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requires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Equipment Model, Certification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Many-to-many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 err="1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Aucun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106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holds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Person, Certification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Many-to-many</a:t>
                      </a:r>
                      <a:endParaRPr dirty="0">
                        <a:solidFill>
                          <a:srgbClr val="334155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F97316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date, exp, result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106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performs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Technical Staff, Maintenance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One-to-many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0" i="1" u="none" strike="noStrike" noProof="0" dirty="0" err="1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</a:rPr>
                        <a:t>Aucun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313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 err="1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has_calibration</a:t>
                      </a:r>
                      <a:endParaRPr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Equipment Unit, Calibration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One-to-many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noProof="0" dirty="0" err="1">
                          <a:solidFill>
                            <a:schemeClr val="tx1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Aucun</a:t>
                      </a:r>
                      <a:endParaRPr lang="en-US" sz="1400" b="0" i="0" u="none" strike="noStrike" noProof="0" dirty="0" err="1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endParaRPr sz="1400" b="1" i="0" u="none" strike="noStrike" noProof="0" dirty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6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 err="1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lab_stock</a:t>
                      </a: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 (</a:t>
                      </a:r>
                      <a:r>
                        <a:rPr lang="en-US" sz="1400" b="1" i="0" u="none" strike="noStrike" noProof="0" dirty="0" err="1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Agr</a:t>
                      </a: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.)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Laboratory, Consumable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Many-to-many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F97316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qty, date, storage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6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monitors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Technical Staff, </a:t>
                      </a:r>
                      <a:r>
                        <a:rPr lang="en-US" sz="1400" b="0" i="0" u="none" strike="noStrike" noProof="0" dirty="0" err="1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lab_stock</a:t>
                      </a:r>
                      <a:endParaRPr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 b="1" u="sng">
                          <a:latin typeface="Calibri"/>
                        </a:defRPr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One-to-many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 err="1">
                          <a:solidFill>
                            <a:srgbClr val="F97316"/>
                          </a:solidFill>
                          <a:highlight>
                            <a:srgbClr val="FFFFFF"/>
                          </a:highlight>
                        </a:rPr>
                        <a:t>start_date</a:t>
                      </a:r>
                      <a:endParaRPr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243601"/>
                  </a:ext>
                </a:extLst>
              </a:tr>
              <a:tr h="575106"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supplies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Supplier, </a:t>
                      </a:r>
                      <a:r>
                        <a:rPr lang="en-US" sz="1400" b="0" i="0" u="none" strike="noStrike" noProof="0" dirty="0" err="1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lab_stock</a:t>
                      </a:r>
                      <a:endParaRPr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</a:rPr>
                        <a:t>Many-to-many</a:t>
                      </a:r>
                      <a:endParaRPr dirty="0">
                        <a:highlight>
                          <a:srgbClr val="F8FAFC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  <a:defRPr sz="900">
                          <a:latin typeface="Calibri"/>
                        </a:defRPr>
                      </a:pPr>
                      <a:r>
                        <a:rPr lang="en-US" sz="1400" b="1" i="0" u="none" strike="noStrike" noProof="0" dirty="0" err="1">
                          <a:solidFill>
                            <a:srgbClr val="F97316"/>
                          </a:solidFill>
                          <a:highlight>
                            <a:srgbClr val="F8FAFC"/>
                          </a:highlight>
                          <a:latin typeface="Calibri"/>
                          <a:ea typeface="Calibri"/>
                          <a:cs typeface="Calibri"/>
                        </a:rPr>
                        <a:t>unit_price</a:t>
                      </a:r>
                      <a:endParaRPr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61ED9A-C5FF-C70B-502C-492180A9631D}"/>
              </a:ext>
            </a:extLst>
          </p:cNvPr>
          <p:cNvSpPr txBox="1"/>
          <p:nvPr/>
        </p:nvSpPr>
        <p:spPr>
          <a:xfrm>
            <a:off x="683455" y="287215"/>
            <a:ext cx="106984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Attributes and relations 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Inforamtions</a:t>
            </a:r>
          </a:p>
        </p:txBody>
      </p:sp>
    </p:spTree>
    <p:extLst>
      <p:ext uri="{BB962C8B-B14F-4D97-AF65-F5344CB8AC3E}">
        <p14:creationId xmlns:p14="http://schemas.microsoft.com/office/powerpoint/2010/main" val="355461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30200"/>
            <a:ext cx="106984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Attributes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Inforamtions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578341"/>
              </p:ext>
            </p:extLst>
          </p:nvPr>
        </p:nvGraphicFramePr>
        <p:xfrm>
          <a:off x="457200" y="10058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Entity</a:t>
                      </a:r>
                    </a:p>
                  </a:txBody>
                  <a:tcPr>
                    <a:solidFill>
                      <a:srgbClr val="1F6B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Type</a:t>
                      </a:r>
                    </a:p>
                  </a:txBody>
                  <a:tcPr>
                    <a:solidFill>
                      <a:srgbClr val="1F6B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Key Attribute(s)</a:t>
                      </a:r>
                    </a:p>
                  </a:txBody>
                  <a:tcPr>
                    <a:solidFill>
                      <a:srgbClr val="1F6B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All Other Attributes</a:t>
                      </a:r>
                    </a:p>
                  </a:txBody>
                  <a:tcPr>
                    <a:solidFill>
                      <a:srgbClr val="1F6B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Superclass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 err="1"/>
                        <a:t>person_id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 err="1"/>
                        <a:t>first_name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last_name</a:t>
                      </a:r>
                      <a:r>
                        <a:rPr sz="1400" dirty="0"/>
                        <a:t>, email, affiliation, </a:t>
                      </a:r>
                      <a:r>
                        <a:rPr sz="1400" dirty="0" err="1"/>
                        <a:t>start_date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end_date</a:t>
                      </a:r>
                      <a:r>
                        <a:rPr sz="1400" dirty="0"/>
                        <a:t> (opt.)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ISA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 err="1"/>
                        <a:t>person_id</a:t>
                      </a:r>
                      <a:r>
                        <a:rPr sz="1400" dirty="0"/>
                        <a:t> (inherited)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program (BSc/BEng/MSc/PhD)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ISA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 err="1"/>
                        <a:t>person_id</a:t>
                      </a:r>
                      <a:r>
                        <a:rPr sz="1400" dirty="0"/>
                        <a:t> (inherited)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phone, </a:t>
                      </a:r>
                      <a:r>
                        <a:rPr sz="1400" dirty="0" err="1"/>
                        <a:t>office_space</a:t>
                      </a:r>
                      <a:r>
                        <a:rPr sz="1400" dirty="0"/>
                        <a:t>, 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LABORATORY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 err="1"/>
                        <a:t>lab_id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name, building, </a:t>
                      </a:r>
                      <a:r>
                        <a:rPr sz="1400" dirty="0" err="1"/>
                        <a:t>room_number</a:t>
                      </a:r>
                      <a:r>
                        <a:rPr sz="1400" dirty="0"/>
                        <a:t>, discipline/</a:t>
                      </a:r>
                      <a:r>
                        <a:rPr sz="1400" dirty="0" err="1"/>
                        <a:t>research_area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RESEARCH_PROJECT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 err="1"/>
                        <a:t>project_code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title, </a:t>
                      </a:r>
                      <a:r>
                        <a:rPr sz="1400" dirty="0" err="1"/>
                        <a:t>start_date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end_date</a:t>
                      </a:r>
                      <a:r>
                        <a:rPr sz="1400" dirty="0"/>
                        <a:t>, status (Proposed/Active/Suspended/Completed/Cancelled)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 err="1"/>
                        <a:t>budget_line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 err="1"/>
                        <a:t>amount_granted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amount_disbursed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start_date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end_date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 err="1"/>
                        <a:t>cert_code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title, </a:t>
                      </a:r>
                      <a:r>
                        <a:rPr sz="1400" dirty="0" err="1"/>
                        <a:t>issuing_authority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validity_period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safety_level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Attribute </a:t>
            </a:r>
            <a:r>
              <a:rPr lang="en-US" b="1" dirty="0">
                <a:solidFill>
                  <a:srgbClr val="000000"/>
                </a:solidFill>
              </a:rPr>
              <a:t>Information</a:t>
            </a:r>
            <a:endParaRPr lang="en-US" dirty="0" err="1">
              <a:ea typeface="Calibri"/>
              <a:cs typeface="Calibri"/>
            </a:endParaRPr>
          </a:p>
          <a:p>
            <a:pPr>
              <a:defRPr sz="1000" i="1">
                <a:solidFill>
                  <a:srgbClr val="5A5A5A"/>
                </a:solidFill>
                <a:latin typeface="Calibri"/>
              </a:defRPr>
            </a:pPr>
            <a:endParaRPr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141497"/>
              </p:ext>
            </p:extLst>
          </p:nvPr>
        </p:nvGraphicFramePr>
        <p:xfrm>
          <a:off x="457200" y="10058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Entity </a:t>
                      </a:r>
                    </a:p>
                  </a:txBody>
                  <a:tcPr>
                    <a:solidFill>
                      <a:srgbClr val="1F6B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Type</a:t>
                      </a:r>
                    </a:p>
                  </a:txBody>
                  <a:tcPr>
                    <a:solidFill>
                      <a:srgbClr val="1F6B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Key Attribute</a:t>
                      </a:r>
                    </a:p>
                  </a:txBody>
                  <a:tcPr>
                    <a:solidFill>
                      <a:srgbClr val="1F6B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400" dirty="0"/>
                        <a:t>All Other Attributes</a:t>
                      </a:r>
                    </a:p>
                  </a:txBody>
                  <a:tcPr>
                    <a:solidFill>
                      <a:srgbClr val="1F6B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EQUIP_MODEL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/>
                        <a:t>model_id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commercial_name, manufacturer, category, req_environment, special_training (bool)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EQUIP_UNIT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Weak 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/>
                        <a:t>serial_no (partial)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acquisition_date, purchase_cost, op_status (InService/UnderMaint/OutOfService/Retired), portable/fixed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Weak 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/>
                        <a:t>start_ts (partial)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end_ts, type (Preventive/Corrective), description, cost, outcome (Resolved/FollowUpRequired)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CALIBRATION_RECORD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Weak 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/>
                        <a:t>calib_date (partial)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calib_type, result (Pass/Fail/Adjusted), next_due_date, 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/>
                        <a:t>reservation_id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submission_ts, planned_start, planned_end, purpose, status (Pending/Approved/Rejected/Cancelled/Completed)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CONSUMABLE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/>
                        <a:t>consumable_id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name, unit_of_measure, hazard_level, reorder_threshold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 u="sng">
                          <a:latin typeface="Calibri"/>
                        </a:defRPr>
                      </a:pPr>
                      <a:r>
                        <a:rPr sz="1400" dirty="0"/>
                        <a:t>supplier_id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rPr sz="1400" dirty="0"/>
                        <a:t>name, contact_email, phone_number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465</cp:revision>
  <dcterms:created xsi:type="dcterms:W3CDTF">2013-01-27T09:14:16Z</dcterms:created>
  <dcterms:modified xsi:type="dcterms:W3CDTF">2026-09-20T22:18:00Z</dcterms:modified>
  <cp:category/>
</cp:coreProperties>
</file>